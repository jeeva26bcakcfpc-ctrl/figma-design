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Brice SemiExpanded" charset="1" panose="00000000000000000000"/>
      <p:regular r:id="rId14"/>
    </p:embeddedFont>
    <p:embeddedFont>
      <p:font typeface="Now" charset="1" panose="00000500000000000000"/>
      <p:regular r:id="rId15"/>
    </p:embeddedFont>
    <p:embeddedFont>
      <p:font typeface="Canva Sans Bold" charset="1" panose="020B08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7B2D9F">
                <a:alpha val="100000"/>
              </a:srgbClr>
            </a:gs>
            <a:gs pos="100000">
              <a:srgbClr val="FDD82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2312" y="2019655"/>
            <a:ext cx="5045546" cy="5008851"/>
          </a:xfrm>
          <a:custGeom>
            <a:avLst/>
            <a:gdLst/>
            <a:ahLst/>
            <a:cxnLst/>
            <a:rect r="r" b="b" t="t" l="l"/>
            <a:pathLst>
              <a:path h="5008851" w="5045546">
                <a:moveTo>
                  <a:pt x="0" y="0"/>
                </a:moveTo>
                <a:lnTo>
                  <a:pt x="5045545" y="0"/>
                </a:lnTo>
                <a:lnTo>
                  <a:pt x="5045545" y="5008851"/>
                </a:lnTo>
                <a:lnTo>
                  <a:pt x="0" y="5008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17656">
            <a:off x="3868369" y="4653814"/>
            <a:ext cx="4211184" cy="3483798"/>
          </a:xfrm>
          <a:custGeom>
            <a:avLst/>
            <a:gdLst/>
            <a:ahLst/>
            <a:cxnLst/>
            <a:rect r="r" b="b" t="t" l="l"/>
            <a:pathLst>
              <a:path h="3483798" w="4211184">
                <a:moveTo>
                  <a:pt x="0" y="0"/>
                </a:moveTo>
                <a:lnTo>
                  <a:pt x="4211185" y="0"/>
                </a:lnTo>
                <a:lnTo>
                  <a:pt x="4211185" y="3483798"/>
                </a:lnTo>
                <a:lnTo>
                  <a:pt x="0" y="34837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144000" y="2629713"/>
            <a:ext cx="7551122" cy="5027574"/>
            <a:chOff x="0" y="0"/>
            <a:chExt cx="10068162" cy="670343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0068162" cy="4871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99"/>
                </a:lnSpc>
              </a:pPr>
              <a:r>
                <a:rPr lang="en-US" sz="7999">
                  <a:solidFill>
                    <a:srgbClr val="FFFFFF"/>
                  </a:solidFill>
                  <a:latin typeface="Brice SemiExpanded"/>
                  <a:ea typeface="Brice SemiExpanded"/>
                  <a:cs typeface="Brice SemiExpanded"/>
                  <a:sym typeface="Brice SemiExpanded"/>
                </a:rPr>
                <a:t>UI Elements &amp; UX Analysis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561326"/>
              <a:ext cx="10068162" cy="11421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A deep dive into Snapchat, Instagram, Gallery, Notes &amp; WhatsApp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610469" y="8440655"/>
            <a:ext cx="7700244" cy="109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85"/>
              </a:lnSpc>
              <a:spcBef>
                <a:spcPct val="0"/>
              </a:spcBef>
            </a:pPr>
            <a:r>
              <a:rPr lang="en-US" sz="648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Presented by jeeva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7B2D9F">
                <a:alpha val="100000"/>
              </a:srgbClr>
            </a:gs>
            <a:gs pos="100000">
              <a:srgbClr val="FDD82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0069" y="1898865"/>
            <a:ext cx="15787861" cy="117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41"/>
              </a:lnSpc>
            </a:pPr>
            <a:r>
              <a:rPr lang="en-US" sz="7701">
                <a:solidFill>
                  <a:srgbClr val="000000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Snapchat UI/UX Elements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897330">
            <a:off x="2250422" y="4250881"/>
            <a:ext cx="3833804" cy="4167179"/>
          </a:xfrm>
          <a:custGeom>
            <a:avLst/>
            <a:gdLst/>
            <a:ahLst/>
            <a:cxnLst/>
            <a:rect r="r" b="b" t="t" l="l"/>
            <a:pathLst>
              <a:path h="4167179" w="3833804">
                <a:moveTo>
                  <a:pt x="0" y="0"/>
                </a:moveTo>
                <a:lnTo>
                  <a:pt x="3833804" y="0"/>
                </a:lnTo>
                <a:lnTo>
                  <a:pt x="3833804" y="4167179"/>
                </a:lnTo>
                <a:lnTo>
                  <a:pt x="0" y="4167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49934" y="4755312"/>
            <a:ext cx="6955626" cy="4312488"/>
          </a:xfrm>
          <a:custGeom>
            <a:avLst/>
            <a:gdLst/>
            <a:ahLst/>
            <a:cxnLst/>
            <a:rect r="r" b="b" t="t" l="l"/>
            <a:pathLst>
              <a:path h="4312488" w="6955626">
                <a:moveTo>
                  <a:pt x="0" y="0"/>
                </a:moveTo>
                <a:lnTo>
                  <a:pt x="6955626" y="0"/>
                </a:lnTo>
                <a:lnTo>
                  <a:pt x="6955626" y="4312488"/>
                </a:lnTo>
                <a:lnTo>
                  <a:pt x="0" y="43124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24096" y="6267129"/>
            <a:ext cx="2607301" cy="1310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sz="24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Camera-first interface &amp; AR Lenses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364400" y="4086744"/>
            <a:ext cx="3567221" cy="4040148"/>
          </a:xfrm>
          <a:custGeom>
            <a:avLst/>
            <a:gdLst/>
            <a:ahLst/>
            <a:cxnLst/>
            <a:rect r="r" b="b" t="t" l="l"/>
            <a:pathLst>
              <a:path h="4040148" w="3567221">
                <a:moveTo>
                  <a:pt x="0" y="0"/>
                </a:moveTo>
                <a:lnTo>
                  <a:pt x="3567221" y="0"/>
                </a:lnTo>
                <a:lnTo>
                  <a:pt x="3567221" y="4040149"/>
                </a:lnTo>
                <a:lnTo>
                  <a:pt x="0" y="40401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54425">
            <a:off x="11923688" y="7124027"/>
            <a:ext cx="3931127" cy="1336114"/>
            <a:chOff x="0" y="0"/>
            <a:chExt cx="5241503" cy="1781486"/>
          </a:xfrm>
        </p:grpSpPr>
        <p:sp>
          <p:nvSpPr>
            <p:cNvPr name="AutoShape 8" id="8"/>
            <p:cNvSpPr/>
            <p:nvPr/>
          </p:nvSpPr>
          <p:spPr>
            <a:xfrm rot="0">
              <a:off x="0" y="0"/>
              <a:ext cx="5241503" cy="1781486"/>
            </a:xfrm>
            <a:prstGeom prst="rect">
              <a:avLst/>
            </a:prstGeom>
            <a:solidFill>
              <a:srgbClr val="FFEC18"/>
            </a:solidFill>
          </p:spPr>
        </p:sp>
        <p:sp>
          <p:nvSpPr>
            <p:cNvPr name="TextBox 9" id="9"/>
            <p:cNvSpPr txBox="true"/>
            <p:nvPr/>
          </p:nvSpPr>
          <p:spPr>
            <a:xfrm rot="0">
              <a:off x="348120" y="295848"/>
              <a:ext cx="4545263" cy="1142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7"/>
                </a:lnSpc>
              </a:pPr>
              <a:r>
                <a:rPr lang="en-US" sz="249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Swipe navigation &amp; Discover feed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934930">
            <a:off x="13005120" y="2982688"/>
            <a:ext cx="2490453" cy="4057028"/>
          </a:xfrm>
          <a:custGeom>
            <a:avLst/>
            <a:gdLst/>
            <a:ahLst/>
            <a:cxnLst/>
            <a:rect r="r" b="b" t="t" l="l"/>
            <a:pathLst>
              <a:path h="4057028" w="2490453">
                <a:moveTo>
                  <a:pt x="0" y="0"/>
                </a:moveTo>
                <a:lnTo>
                  <a:pt x="2490453" y="0"/>
                </a:lnTo>
                <a:lnTo>
                  <a:pt x="2490453" y="4057028"/>
                </a:lnTo>
                <a:lnTo>
                  <a:pt x="0" y="40570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927130" y="5117182"/>
            <a:ext cx="2441762" cy="1310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Stories carousel &amp; ephemeral messaging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7B2D9F">
                <a:alpha val="100000"/>
              </a:srgbClr>
            </a:gs>
            <a:gs pos="100000">
              <a:srgbClr val="FDD82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0069" y="1915073"/>
            <a:ext cx="15787861" cy="114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90"/>
              </a:lnSpc>
            </a:pPr>
            <a:r>
              <a:rPr lang="en-US" sz="7491">
                <a:solidFill>
                  <a:srgbClr val="000000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Instagram UI/UX Elements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897330">
            <a:off x="2793065" y="3727494"/>
            <a:ext cx="2784163" cy="5265556"/>
          </a:xfrm>
          <a:custGeom>
            <a:avLst/>
            <a:gdLst/>
            <a:ahLst/>
            <a:cxnLst/>
            <a:rect r="r" b="b" t="t" l="l"/>
            <a:pathLst>
              <a:path h="5265556" w="2784163">
                <a:moveTo>
                  <a:pt x="0" y="0"/>
                </a:moveTo>
                <a:lnTo>
                  <a:pt x="2784163" y="0"/>
                </a:lnTo>
                <a:lnTo>
                  <a:pt x="2784163" y="5265556"/>
                </a:lnTo>
                <a:lnTo>
                  <a:pt x="0" y="5265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49934" y="4755312"/>
            <a:ext cx="6955626" cy="4312488"/>
          </a:xfrm>
          <a:custGeom>
            <a:avLst/>
            <a:gdLst/>
            <a:ahLst/>
            <a:cxnLst/>
            <a:rect r="r" b="b" t="t" l="l"/>
            <a:pathLst>
              <a:path h="4312488" w="6955626">
                <a:moveTo>
                  <a:pt x="0" y="0"/>
                </a:moveTo>
                <a:lnTo>
                  <a:pt x="6955626" y="0"/>
                </a:lnTo>
                <a:lnTo>
                  <a:pt x="6955626" y="4312488"/>
                </a:lnTo>
                <a:lnTo>
                  <a:pt x="0" y="43124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24096" y="6267129"/>
            <a:ext cx="2607301" cy="1310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sz="24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Bottom nav bar &amp; grid profile layout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683363" y="3124904"/>
            <a:ext cx="2941908" cy="5560923"/>
          </a:xfrm>
          <a:custGeom>
            <a:avLst/>
            <a:gdLst/>
            <a:ahLst/>
            <a:cxnLst/>
            <a:rect r="r" b="b" t="t" l="l"/>
            <a:pathLst>
              <a:path h="5560923" w="2941908">
                <a:moveTo>
                  <a:pt x="0" y="0"/>
                </a:moveTo>
                <a:lnTo>
                  <a:pt x="2941908" y="0"/>
                </a:lnTo>
                <a:lnTo>
                  <a:pt x="2941908" y="5560922"/>
                </a:lnTo>
                <a:lnTo>
                  <a:pt x="0" y="55609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54425">
            <a:off x="11923688" y="7124027"/>
            <a:ext cx="3931127" cy="1336114"/>
            <a:chOff x="0" y="0"/>
            <a:chExt cx="5241503" cy="1781486"/>
          </a:xfrm>
        </p:grpSpPr>
        <p:sp>
          <p:nvSpPr>
            <p:cNvPr name="AutoShape 8" id="8"/>
            <p:cNvSpPr/>
            <p:nvPr/>
          </p:nvSpPr>
          <p:spPr>
            <a:xfrm rot="0">
              <a:off x="0" y="0"/>
              <a:ext cx="5241503" cy="1781486"/>
            </a:xfrm>
            <a:prstGeom prst="rect">
              <a:avLst/>
            </a:prstGeom>
            <a:solidFill>
              <a:srgbClr val="FFEC18"/>
            </a:solidFill>
          </p:spPr>
        </p:sp>
        <p:sp>
          <p:nvSpPr>
            <p:cNvPr name="TextBox 9" id="9"/>
            <p:cNvSpPr txBox="true"/>
            <p:nvPr/>
          </p:nvSpPr>
          <p:spPr>
            <a:xfrm rot="0">
              <a:off x="348120" y="295848"/>
              <a:ext cx="4545263" cy="1142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7"/>
                </a:lnSpc>
              </a:pPr>
              <a:r>
                <a:rPr lang="en-US" sz="249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Double-tap to like &amp; Stories ring indicators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934930">
            <a:off x="12858882" y="4363878"/>
            <a:ext cx="2981792" cy="2708685"/>
          </a:xfrm>
          <a:custGeom>
            <a:avLst/>
            <a:gdLst/>
            <a:ahLst/>
            <a:cxnLst/>
            <a:rect r="r" b="b" t="t" l="l"/>
            <a:pathLst>
              <a:path h="2708685" w="2981792">
                <a:moveTo>
                  <a:pt x="0" y="0"/>
                </a:moveTo>
                <a:lnTo>
                  <a:pt x="2981792" y="0"/>
                </a:lnTo>
                <a:lnTo>
                  <a:pt x="2981792" y="2708685"/>
                </a:lnTo>
                <a:lnTo>
                  <a:pt x="0" y="2708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927130" y="5117182"/>
            <a:ext cx="2441762" cy="1310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Reels scroll &amp; infinite feed UX pattern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7B2D9F">
                <a:alpha val="100000"/>
              </a:srgbClr>
            </a:gs>
            <a:gs pos="100000">
              <a:srgbClr val="FDD82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0069" y="1939385"/>
            <a:ext cx="15787861" cy="1095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88"/>
              </a:lnSpc>
            </a:pPr>
            <a:r>
              <a:rPr lang="en-US" sz="7156">
                <a:solidFill>
                  <a:srgbClr val="000000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Gallery App UI/UX Elements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897330">
            <a:off x="2607407" y="4689026"/>
            <a:ext cx="3140539" cy="3323129"/>
          </a:xfrm>
          <a:custGeom>
            <a:avLst/>
            <a:gdLst/>
            <a:ahLst/>
            <a:cxnLst/>
            <a:rect r="r" b="b" t="t" l="l"/>
            <a:pathLst>
              <a:path h="3323129" w="3140539">
                <a:moveTo>
                  <a:pt x="0" y="0"/>
                </a:moveTo>
                <a:lnTo>
                  <a:pt x="3140539" y="0"/>
                </a:lnTo>
                <a:lnTo>
                  <a:pt x="3140539" y="3323129"/>
                </a:lnTo>
                <a:lnTo>
                  <a:pt x="0" y="33231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78735" y="4950290"/>
            <a:ext cx="4728824" cy="4312488"/>
          </a:xfrm>
          <a:custGeom>
            <a:avLst/>
            <a:gdLst/>
            <a:ahLst/>
            <a:cxnLst/>
            <a:rect r="r" b="b" t="t" l="l"/>
            <a:pathLst>
              <a:path h="4312488" w="4728824">
                <a:moveTo>
                  <a:pt x="0" y="0"/>
                </a:moveTo>
                <a:lnTo>
                  <a:pt x="4728824" y="0"/>
                </a:lnTo>
                <a:lnTo>
                  <a:pt x="4728824" y="4312488"/>
                </a:lnTo>
                <a:lnTo>
                  <a:pt x="0" y="4312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24096" y="6267129"/>
            <a:ext cx="2607301" cy="1310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sz="24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Grid thumbnail view &amp; pinch-to-zoom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475225" y="4160056"/>
            <a:ext cx="3402878" cy="3482737"/>
          </a:xfrm>
          <a:custGeom>
            <a:avLst/>
            <a:gdLst/>
            <a:ahLst/>
            <a:cxnLst/>
            <a:rect r="r" b="b" t="t" l="l"/>
            <a:pathLst>
              <a:path h="3482737" w="3402878">
                <a:moveTo>
                  <a:pt x="0" y="0"/>
                </a:moveTo>
                <a:lnTo>
                  <a:pt x="3402878" y="0"/>
                </a:lnTo>
                <a:lnTo>
                  <a:pt x="3402878" y="3482738"/>
                </a:lnTo>
                <a:lnTo>
                  <a:pt x="0" y="34827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54425">
            <a:off x="11923688" y="7124027"/>
            <a:ext cx="3931127" cy="1336114"/>
            <a:chOff x="0" y="0"/>
            <a:chExt cx="5241503" cy="1781486"/>
          </a:xfrm>
        </p:grpSpPr>
        <p:sp>
          <p:nvSpPr>
            <p:cNvPr name="AutoShape 8" id="8"/>
            <p:cNvSpPr/>
            <p:nvPr/>
          </p:nvSpPr>
          <p:spPr>
            <a:xfrm rot="0">
              <a:off x="0" y="0"/>
              <a:ext cx="5241503" cy="1781486"/>
            </a:xfrm>
            <a:prstGeom prst="rect">
              <a:avLst/>
            </a:prstGeom>
            <a:solidFill>
              <a:srgbClr val="FFEC18"/>
            </a:solidFill>
          </p:spPr>
        </p:sp>
        <p:sp>
          <p:nvSpPr>
            <p:cNvPr name="TextBox 9" id="9"/>
            <p:cNvSpPr txBox="true"/>
            <p:nvPr/>
          </p:nvSpPr>
          <p:spPr>
            <a:xfrm rot="0">
              <a:off x="348120" y="295848"/>
              <a:ext cx="4545263" cy="1142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7"/>
                </a:lnSpc>
              </a:pPr>
              <a:r>
                <a:rPr lang="en-US" sz="249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Swipe between photos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934930">
            <a:off x="13131276" y="3540750"/>
            <a:ext cx="2414272" cy="4284735"/>
          </a:xfrm>
          <a:custGeom>
            <a:avLst/>
            <a:gdLst/>
            <a:ahLst/>
            <a:cxnLst/>
            <a:rect r="r" b="b" t="t" l="l"/>
            <a:pathLst>
              <a:path h="4284735" w="2414272">
                <a:moveTo>
                  <a:pt x="0" y="0"/>
                </a:moveTo>
                <a:lnTo>
                  <a:pt x="2414272" y="0"/>
                </a:lnTo>
                <a:lnTo>
                  <a:pt x="2414272" y="4284735"/>
                </a:lnTo>
                <a:lnTo>
                  <a:pt x="0" y="42847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927130" y="4896092"/>
            <a:ext cx="2441762" cy="175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Album organization &amp; date-based sorting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7B2D9F">
                <a:alpha val="100000"/>
              </a:srgbClr>
            </a:gs>
            <a:gs pos="100000">
              <a:srgbClr val="FDD82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0069" y="1947489"/>
            <a:ext cx="15787861" cy="1079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37"/>
              </a:lnSpc>
            </a:pPr>
            <a:r>
              <a:rPr lang="en-US" sz="7031">
                <a:solidFill>
                  <a:srgbClr val="000000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Notes App — UI/UX Elements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897330">
            <a:off x="2585841" y="4538294"/>
            <a:ext cx="3289681" cy="3635149"/>
          </a:xfrm>
          <a:custGeom>
            <a:avLst/>
            <a:gdLst/>
            <a:ahLst/>
            <a:cxnLst/>
            <a:rect r="r" b="b" t="t" l="l"/>
            <a:pathLst>
              <a:path h="3635149" w="3289681">
                <a:moveTo>
                  <a:pt x="0" y="0"/>
                </a:moveTo>
                <a:lnTo>
                  <a:pt x="3289682" y="0"/>
                </a:lnTo>
                <a:lnTo>
                  <a:pt x="3289682" y="3635149"/>
                </a:lnTo>
                <a:lnTo>
                  <a:pt x="0" y="3635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70944" y="4736808"/>
            <a:ext cx="4961033" cy="4312488"/>
          </a:xfrm>
          <a:custGeom>
            <a:avLst/>
            <a:gdLst/>
            <a:ahLst/>
            <a:cxnLst/>
            <a:rect r="r" b="b" t="t" l="l"/>
            <a:pathLst>
              <a:path h="4312488" w="4961033">
                <a:moveTo>
                  <a:pt x="0" y="0"/>
                </a:moveTo>
                <a:lnTo>
                  <a:pt x="4961033" y="0"/>
                </a:lnTo>
                <a:lnTo>
                  <a:pt x="4961033" y="4312488"/>
                </a:lnTo>
                <a:lnTo>
                  <a:pt x="0" y="4312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24096" y="6046039"/>
            <a:ext cx="2607301" cy="175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sz="24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List view with previews &amp; folder organization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472986" y="4165620"/>
            <a:ext cx="3422287" cy="3665100"/>
          </a:xfrm>
          <a:custGeom>
            <a:avLst/>
            <a:gdLst/>
            <a:ahLst/>
            <a:cxnLst/>
            <a:rect r="r" b="b" t="t" l="l"/>
            <a:pathLst>
              <a:path h="3665100" w="3422287">
                <a:moveTo>
                  <a:pt x="0" y="0"/>
                </a:moveTo>
                <a:lnTo>
                  <a:pt x="3422287" y="0"/>
                </a:lnTo>
                <a:lnTo>
                  <a:pt x="3422287" y="3665100"/>
                </a:lnTo>
                <a:lnTo>
                  <a:pt x="0" y="3665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54425">
            <a:off x="11923688" y="7124027"/>
            <a:ext cx="3931127" cy="1336114"/>
            <a:chOff x="0" y="0"/>
            <a:chExt cx="5241503" cy="1781486"/>
          </a:xfrm>
        </p:grpSpPr>
        <p:sp>
          <p:nvSpPr>
            <p:cNvPr name="AutoShape 8" id="8"/>
            <p:cNvSpPr/>
            <p:nvPr/>
          </p:nvSpPr>
          <p:spPr>
            <a:xfrm rot="0">
              <a:off x="0" y="0"/>
              <a:ext cx="5241503" cy="1781486"/>
            </a:xfrm>
            <a:prstGeom prst="rect">
              <a:avLst/>
            </a:prstGeom>
            <a:solidFill>
              <a:srgbClr val="FFEC18"/>
            </a:solidFill>
          </p:spPr>
        </p:sp>
        <p:sp>
          <p:nvSpPr>
            <p:cNvPr name="TextBox 9" id="9"/>
            <p:cNvSpPr txBox="true"/>
            <p:nvPr/>
          </p:nvSpPr>
          <p:spPr>
            <a:xfrm rot="0">
              <a:off x="348120" y="295848"/>
              <a:ext cx="4545263" cy="1142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7"/>
                </a:lnSpc>
              </a:pPr>
              <a:r>
                <a:rPr lang="en-US" sz="249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Rich text formatting &amp; quick create button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934930">
            <a:off x="13177078" y="2433994"/>
            <a:ext cx="2299756" cy="6422281"/>
          </a:xfrm>
          <a:custGeom>
            <a:avLst/>
            <a:gdLst/>
            <a:ahLst/>
            <a:cxnLst/>
            <a:rect r="r" b="b" t="t" l="l"/>
            <a:pathLst>
              <a:path h="6422281" w="2299756">
                <a:moveTo>
                  <a:pt x="0" y="0"/>
                </a:moveTo>
                <a:lnTo>
                  <a:pt x="2299756" y="0"/>
                </a:lnTo>
                <a:lnTo>
                  <a:pt x="2299756" y="6422281"/>
                </a:lnTo>
                <a:lnTo>
                  <a:pt x="0" y="64222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927130" y="4896092"/>
            <a:ext cx="2441762" cy="175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Search bar for fast note lookup &amp; filtering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7B2D9F">
                <a:alpha val="100000"/>
              </a:srgbClr>
            </a:gs>
            <a:gs pos="100000">
              <a:srgbClr val="FDD82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0069" y="1905548"/>
            <a:ext cx="15787861" cy="1153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40"/>
              </a:lnSpc>
            </a:pPr>
            <a:r>
              <a:rPr lang="en-US" sz="7450">
                <a:solidFill>
                  <a:srgbClr val="000000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WhatsApp UI/UX Elements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897330">
            <a:off x="2334535" y="4497274"/>
            <a:ext cx="3704298" cy="3711562"/>
          </a:xfrm>
          <a:custGeom>
            <a:avLst/>
            <a:gdLst/>
            <a:ahLst/>
            <a:cxnLst/>
            <a:rect r="r" b="b" t="t" l="l"/>
            <a:pathLst>
              <a:path h="3711562" w="3704298">
                <a:moveTo>
                  <a:pt x="0" y="0"/>
                </a:moveTo>
                <a:lnTo>
                  <a:pt x="3704298" y="0"/>
                </a:lnTo>
                <a:lnTo>
                  <a:pt x="3704298" y="3711562"/>
                </a:lnTo>
                <a:lnTo>
                  <a:pt x="0" y="3711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49934" y="4755312"/>
            <a:ext cx="6955626" cy="4312488"/>
          </a:xfrm>
          <a:custGeom>
            <a:avLst/>
            <a:gdLst/>
            <a:ahLst/>
            <a:cxnLst/>
            <a:rect r="r" b="b" t="t" l="l"/>
            <a:pathLst>
              <a:path h="4312488" w="6955626">
                <a:moveTo>
                  <a:pt x="0" y="0"/>
                </a:moveTo>
                <a:lnTo>
                  <a:pt x="6955626" y="0"/>
                </a:lnTo>
                <a:lnTo>
                  <a:pt x="6955626" y="4312488"/>
                </a:lnTo>
                <a:lnTo>
                  <a:pt x="0" y="43124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24096" y="6304504"/>
            <a:ext cx="2607301" cy="1226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2"/>
              </a:lnSpc>
            </a:pPr>
            <a:r>
              <a:rPr lang="en-US" sz="2301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Chat list with timestamps &amp; blue tick read receipts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484799" y="4134125"/>
            <a:ext cx="3419543" cy="3585366"/>
          </a:xfrm>
          <a:custGeom>
            <a:avLst/>
            <a:gdLst/>
            <a:ahLst/>
            <a:cxnLst/>
            <a:rect r="r" b="b" t="t" l="l"/>
            <a:pathLst>
              <a:path h="3585366" w="3419543">
                <a:moveTo>
                  <a:pt x="0" y="0"/>
                </a:moveTo>
                <a:lnTo>
                  <a:pt x="3419543" y="0"/>
                </a:lnTo>
                <a:lnTo>
                  <a:pt x="3419543" y="3585366"/>
                </a:lnTo>
                <a:lnTo>
                  <a:pt x="0" y="35853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54425">
            <a:off x="11923688" y="7154462"/>
            <a:ext cx="3931127" cy="1275243"/>
            <a:chOff x="0" y="0"/>
            <a:chExt cx="5241503" cy="1700324"/>
          </a:xfrm>
        </p:grpSpPr>
        <p:sp>
          <p:nvSpPr>
            <p:cNvPr name="AutoShape 8" id="8"/>
            <p:cNvSpPr/>
            <p:nvPr/>
          </p:nvSpPr>
          <p:spPr>
            <a:xfrm rot="0">
              <a:off x="0" y="0"/>
              <a:ext cx="5241503" cy="1700324"/>
            </a:xfrm>
            <a:prstGeom prst="rect">
              <a:avLst/>
            </a:prstGeom>
            <a:solidFill>
              <a:srgbClr val="FFEC18"/>
            </a:solidFill>
          </p:spPr>
        </p:sp>
        <p:sp>
          <p:nvSpPr>
            <p:cNvPr name="TextBox 9" id="9"/>
            <p:cNvSpPr txBox="true"/>
            <p:nvPr/>
          </p:nvSpPr>
          <p:spPr>
            <a:xfrm rot="0">
              <a:off x="348120" y="286323"/>
              <a:ext cx="4545263" cy="10705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22"/>
                </a:lnSpc>
              </a:pPr>
              <a:r>
                <a:rPr lang="en-US" sz="2301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End-to-end encryption indicator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934930">
            <a:off x="12899675" y="3757768"/>
            <a:ext cx="2779632" cy="3511672"/>
          </a:xfrm>
          <a:custGeom>
            <a:avLst/>
            <a:gdLst/>
            <a:ahLst/>
            <a:cxnLst/>
            <a:rect r="r" b="b" t="t" l="l"/>
            <a:pathLst>
              <a:path h="3511672" w="2779632">
                <a:moveTo>
                  <a:pt x="0" y="0"/>
                </a:moveTo>
                <a:lnTo>
                  <a:pt x="2779632" y="0"/>
                </a:lnTo>
                <a:lnTo>
                  <a:pt x="2779632" y="3511673"/>
                </a:lnTo>
                <a:lnTo>
                  <a:pt x="0" y="35116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927130" y="4949931"/>
            <a:ext cx="2441762" cy="1635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2"/>
              </a:lnSpc>
            </a:pPr>
            <a:r>
              <a:rPr lang="en-US" sz="2301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Status tab &amp; floating action button for new chats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7B2D9F">
                <a:alpha val="100000"/>
              </a:srgbClr>
            </a:gs>
            <a:gs pos="100000">
              <a:srgbClr val="FDD82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0186" y="6659042"/>
            <a:ext cx="10987627" cy="1548965"/>
            <a:chOff x="0" y="0"/>
            <a:chExt cx="14650170" cy="206528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14650170" cy="1294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633"/>
                </a:lnSpc>
              </a:pPr>
              <a:r>
                <a:rPr lang="en-US" sz="6361">
                  <a:solidFill>
                    <a:srgbClr val="FFFFFF"/>
                  </a:solidFill>
                  <a:latin typeface="Brice SemiExpanded"/>
                  <a:ea typeface="Brice SemiExpanded"/>
                  <a:cs typeface="Brice SemiExpanded"/>
                  <a:sym typeface="Brice SemiExpanded"/>
                </a:rPr>
                <a:t>Common UX Patterns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593037"/>
              <a:ext cx="14650170" cy="47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29"/>
                </a:lnSpc>
              </a:pPr>
              <a:r>
                <a:rPr lang="en-US" sz="2092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Bottom navigation, gestures, visual feedback &amp; consistent iconography unite all apps.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700350" y="1919225"/>
            <a:ext cx="5938183" cy="3778844"/>
          </a:xfrm>
          <a:custGeom>
            <a:avLst/>
            <a:gdLst/>
            <a:ahLst/>
            <a:cxnLst/>
            <a:rect r="r" b="b" t="t" l="l"/>
            <a:pathLst>
              <a:path h="3778844" w="5938183">
                <a:moveTo>
                  <a:pt x="0" y="0"/>
                </a:moveTo>
                <a:lnTo>
                  <a:pt x="5938184" y="0"/>
                </a:lnTo>
                <a:lnTo>
                  <a:pt x="5938184" y="3778844"/>
                </a:lnTo>
                <a:lnTo>
                  <a:pt x="0" y="3778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9649466" y="1919225"/>
            <a:ext cx="5938183" cy="3778844"/>
          </a:xfrm>
          <a:custGeom>
            <a:avLst/>
            <a:gdLst/>
            <a:ahLst/>
            <a:cxnLst/>
            <a:rect r="r" b="b" t="t" l="l"/>
            <a:pathLst>
              <a:path h="3778844" w="5938183">
                <a:moveTo>
                  <a:pt x="5938184" y="0"/>
                </a:moveTo>
                <a:lnTo>
                  <a:pt x="0" y="0"/>
                </a:lnTo>
                <a:lnTo>
                  <a:pt x="0" y="3778844"/>
                </a:lnTo>
                <a:lnTo>
                  <a:pt x="5938184" y="3778844"/>
                </a:lnTo>
                <a:lnTo>
                  <a:pt x="593818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26754" y="3044359"/>
            <a:ext cx="3301763" cy="1480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9"/>
              </a:lnSpc>
            </a:pPr>
            <a:r>
              <a:rPr lang="en-US" sz="2092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Bottom nav bars &amp; gesture swipes are shared across Snapchat, Instagram &amp; WhatsApp.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379949" y="3044359"/>
            <a:ext cx="3301763" cy="1480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9"/>
              </a:lnSpc>
            </a:pPr>
            <a:r>
              <a:rPr lang="en-US" sz="209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Visual feedback &amp; icon consistency guide users in Gallery, Notes &amp; messaging apps.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7B2D9F">
                <a:alpha val="100000"/>
              </a:srgbClr>
            </a:gs>
            <a:gs pos="100000">
              <a:srgbClr val="FDD82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7748" y="2960687"/>
            <a:ext cx="15321409" cy="34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86"/>
              </a:lnSpc>
              <a:spcBef>
                <a:spcPct val="0"/>
              </a:spcBef>
            </a:pPr>
            <a:r>
              <a:rPr lang="en-US" b="true" sz="203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DAHOPbTFiR8</dc:identifier>
  <dcterms:modified xsi:type="dcterms:W3CDTF">2011-08-01T06:04:30Z</dcterms:modified>
  <cp:revision>1</cp:revision>
  <dc:title>xt</dc:title>
</cp:coreProperties>
</file>